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6400800"/>
          </a:xfrm>
          <a:prstGeom prst="ellipse">
            <a:avLst/>
          </a:prstGeom>
          <a:solidFill>
            <a:srgbClr val="FF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9A8"/>
                </a:solidFill>
                <a:latin typeface="Microsoft YaHei"/>
                <a:ea typeface="Microsoft YaHei"/>
              </a:rPr>
              <a:t>DEEP-DIVE · CLAUDE CODE v2.1.88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</a:rP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</a:rPr>
              <a:t>技术与架构剖析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D9A8"/>
                </a:solidFill>
                <a:latin typeface="Microsoft YaHei"/>
                <a:ea typeface="Microsoft YaHei"/>
              </a:rPr>
              <a:t>A While-Loop Wrapped in 98.4%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D8DDE7"/>
                </a:solidFill>
                <a:latin typeface="Microsoft YaHei"/>
                <a:ea typeface="Microsoft YaHei"/>
              </a:rPr>
              <a:t>面向 v2.1.88（约 1,884 个文件 / 约 512K 行 TypeScript）的源码级架构分析。智能体循环只是一个 while；真正的工程复杂度集中在它周围的权限门控、上下文管理、工具路由与恢复逻辑等基础设施之中。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1.6%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AI 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98.4%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基础设施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7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安全层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5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压缩阶段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54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27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钩子事件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4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扩展机制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5715000"/>
            <a:ext cx="1325880" cy="502920"/>
          </a:xfrm>
          <a:prstGeom prst="roundRect">
            <a:avLst>
              <a:gd name="adj" fmla="val 18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F7E3C"/>
                </a:solidFill>
                <a:latin typeface="Microsoft YaHei"/>
                <a:ea typeface="Microsoft YaHei"/>
              </a:rPr>
              <a:t>7</a:t>
            </a: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  权限模式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8DDE7"/>
                </a:solidFill>
                <a:latin typeface="Microsoft YaHei"/>
                <a:ea typeface="Microsoft YaHe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TL;DR · 一图概览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C2532"/>
                </a:solidFill>
                <a:latin typeface="Microsoft YaHei"/>
                <a:ea typeface="Microsoft YaHei"/>
              </a:rPr>
              <a:t>智能体循环只占代码的 1.6%，真正的工程在它的"骨架"里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C4757"/>
                </a:solidFill>
                <a:latin typeface="Microsoft YaHei"/>
                <a:ea typeface="Microsoft YaHei"/>
              </a:rPr>
              <a:t>Claude Code 不是一个"更聪明的模型"，而是围绕模型构建的一整套确定性基础设施：权限门控、上下文管理、工具路由、恢复逻辑——这些才是从研究原型到生产可用的关键。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97480"/>
            <a:ext cx="1828800" cy="100584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 i="0">
                <a:solidFill>
                  <a:srgbClr val="DF7E3C"/>
                </a:solidFill>
                <a:latin typeface="Microsoft YaHei"/>
                <a:ea typeface="Microsoft YaHei"/>
              </a:rPr>
              <a:t>1.6%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AI 决策逻辑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697480"/>
            <a:ext cx="1828800" cy="100584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 i="0">
                <a:solidFill>
                  <a:srgbClr val="DF7E3C"/>
                </a:solidFill>
                <a:latin typeface="Microsoft YaHei"/>
                <a:ea typeface="Microsoft YaHei"/>
              </a:rPr>
              <a:t>98.4%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确定性基础设施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697480"/>
            <a:ext cx="1828800" cy="100584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 i="0">
                <a:solidFill>
                  <a:srgbClr val="DF7E3C"/>
                </a:solidFill>
                <a:latin typeface="Microsoft YaHei"/>
                <a:ea typeface="Microsoft YaHei"/>
              </a:rPr>
              <a:t>~512K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行代码 (TS)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97480"/>
            <a:ext cx="1828800" cy="100584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 i="0">
                <a:solidFill>
                  <a:srgbClr val="DF7E3C"/>
                </a:solidFill>
                <a:latin typeface="Microsoft YaHei"/>
                <a:ea typeface="Microsoft YaHei"/>
              </a:rPr>
              <a:t>1,884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源文件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697480"/>
            <a:ext cx="1828800" cy="100584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 i="0">
                <a:solidFill>
                  <a:srgbClr val="DF7E3C"/>
                </a:solidFill>
                <a:latin typeface="Microsoft YaHei"/>
                <a:ea typeface="Microsoft YaHei"/>
              </a:rPr>
              <a:t>~200K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上下文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697480"/>
            <a:ext cx="1828800" cy="1005840"/>
          </a:xfrm>
          <a:prstGeom prst="roundRect">
            <a:avLst>
              <a:gd name="adj" fmla="val 10000"/>
            </a:avLst>
          </a:prstGeom>
          <a:solidFill>
            <a:srgbClr val="FAFBFD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 i="0">
                <a:solidFill>
                  <a:srgbClr val="DF7E3C"/>
                </a:solidFill>
                <a:latin typeface="Microsoft YaHei"/>
                <a:ea typeface="Microsoft YaHei"/>
              </a:rPr>
              <a:t>5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压缩阶段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5623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73152" cy="201168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799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核心洞察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80559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 i="0">
                <a:solidFill>
                  <a:srgbClr val="1C2532"/>
                </a:solidFill>
                <a:latin typeface="Microsoft YaHei"/>
                <a:ea typeface="Microsoft YaHei"/>
              </a:rPr>
              <a:t>循环本身容易复制</a:t>
            </a:r>
            <a:r>
              <a:rPr sz="1400" b="0" i="0">
                <a:solidFill>
                  <a:srgbClr val="1C2532"/>
                </a:solidFill>
                <a:latin typeface="Microsoft YaHei"/>
                <a:ea typeface="Microsoft YaHei"/>
              </a:rPr>
              <a:t>，但 harness（钩子、分类器、压缩、隔离）才是难以重新实现的部分。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77639"/>
            <a:ext cx="5623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63640" y="3977639"/>
            <a:ext cx="73152" cy="2011680"/>
          </a:xfrm>
          <a:prstGeom prst="rect">
            <a:avLst/>
          </a:prstGeom>
          <a:solidFill>
            <a:srgbClr val="3D8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799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设计哲学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59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 i="0">
                <a:solidFill>
                  <a:srgbClr val="1C2532"/>
                </a:solidFill>
                <a:latin typeface="Microsoft YaHei"/>
                <a:ea typeface="Microsoft YaHei"/>
              </a:rPr>
              <a:t>价值观优先于规则</a:t>
            </a:r>
            <a:r>
              <a:rPr sz="1400" b="0" i="0">
                <a:solidFill>
                  <a:srgbClr val="1C2532"/>
                </a:solidFill>
                <a:latin typeface="Microsoft YaHei"/>
                <a:ea typeface="Microsoft YaHei"/>
              </a:rPr>
              <a:t>：5 个人类价值观 → 13 条原则 → 落地实现，每个决策都可追溯。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Claude Code 技术与架构剖析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01 · 设计空间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C2532"/>
                </a:solidFill>
                <a:latin typeface="Microsoft YaHei"/>
                <a:ea typeface="Microsoft YaHei"/>
              </a:rPr>
              <a:t>每个编码智能体都必须回答的四个问题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029200"/>
                <a:gridCol w="3840480"/>
              </a:tblGrid>
              <a:tr h="8412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设计问题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Claude Code 的答案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替代方案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8412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推理放在哪里？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模型推理；harness 强制执行</a:t>
                      </a:r>
                    </a:p>
                    <a:p>
                      <a:pPr algn="l"/>
                      <a:r>
                        <a:rPr sz="1100" b="1" i="0">
                          <a:solidFill>
                            <a:srgbClr val="DF7E3C"/>
                          </a:solidFill>
                          <a:latin typeface="Microsoft YaHei"/>
                          <a:ea typeface="Microsoft YaHei"/>
                        </a:rPr>
                        <a:t>≈1.6% AI · 98.4% 基础设施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LangGraph：显式状态图
Devin：多步规划器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有多少个执行引擎？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单一 </a:t>
                      </a:r>
                      <a:r>
                        <a:rPr sz="120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queryLoop</a:t>
                      </a:r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，所有入口（CLI / SDK / IDE）共用</a:t>
                      </a:r>
                    </a:p>
                    <a:p>
                      <a:pPr algn="l"/>
                      <a:r>
                        <a:rPr sz="1100" b="1" i="0">
                          <a:solidFill>
                            <a:srgbClr val="234A6F"/>
                          </a:solidFill>
                          <a:latin typeface="Microsoft YaHei"/>
                          <a:ea typeface="Microsoft YaHei"/>
                        </a:rPr>
                        <a:t>One harness for all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每个入口一套独立引擎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8412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默认安全姿态？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拒绝优先：拒绝 &gt; 询问 &gt; 允许；最严格规则胜出</a:t>
                      </a:r>
                    </a:p>
                    <a:p>
                      <a:pPr algn="l"/>
                      <a:r>
                        <a:rPr sz="1100" b="1" i="0">
                          <a:solidFill>
                            <a:srgbClr val="5A4400"/>
                          </a:solidFill>
                          <a:latin typeface="Microsoft YaHei"/>
                          <a:ea typeface="Microsoft YaHei"/>
                        </a:rPr>
                        <a:t>Deny-first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容器隔离（SWE-Agent）
Git 回滚（Aider）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最根本的资源约束？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上下文窗口（~200K，部分 1M）；每次模型调用前过 5 层压缩</a:t>
                      </a:r>
                    </a:p>
                    <a:p>
                      <a:pPr algn="l"/>
                      <a:r>
                        <a:rPr sz="1100" b="1" i="0">
                          <a:solidFill>
                            <a:srgbClr val="3D8033"/>
                          </a:solidFill>
                          <a:latin typeface="Microsoft YaHei"/>
                          <a:ea typeface="Microsoft YaHei"/>
                        </a:rPr>
                        <a:t>5-stage shaping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计算预算、显式草稿本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四个设计问题 · From Paper §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02 · 系统总览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C2532"/>
                </a:solidFill>
                <a:latin typeface="Microsoft YaHei"/>
                <a:ea typeface="Microsoft YaHei"/>
              </a:rPr>
              <a:t>高层主结构 · 7 个组件构成的请求—执行—持久化闭环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C4757"/>
                </a:solidFill>
                <a:latin typeface="Microsoft YaHei"/>
                <a:ea typeface="Microsoft YaHei"/>
              </a:rPr>
              <a:t>User → Interfaces → Agent Loop（核心 while），由 Permission System 门控、调度 Tools 在 Execution Environment 中运行，状态写入 State &amp; Persistence。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2377440" cy="868680"/>
          </a:xfrm>
          <a:prstGeom prst="roundRect">
            <a:avLst>
              <a:gd name="adj" fmla="val 20000"/>
            </a:avLst>
          </a:prstGeom>
          <a:solidFill>
            <a:srgbClr val="FFF1B8"/>
          </a:solidFill>
          <a:ln w="25400">
            <a:solidFill>
              <a:srgbClr val="C9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0" y="2331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C2532"/>
                </a:solidFill>
                <a:latin typeface="Microsoft YaHei"/>
                <a:ea typeface="Microsoft YaHei"/>
              </a:rPr>
              <a:t>Permission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3A2208"/>
                </a:solidFill>
                <a:latin typeface="Microsoft YaHei"/>
                <a:ea typeface="Microsoft YaHei"/>
              </a:rPr>
              <a:t>+ auto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25400">
            <a:solidFill>
              <a:srgbClr val="1C25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C2532"/>
                </a:solidFill>
                <a:latin typeface="Microsoft YaHei"/>
                <a:ea typeface="Microsoft YaHei"/>
              </a:rPr>
              <a:t>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4023360"/>
            <a:ext cx="1828800" cy="1097280"/>
          </a:xfrm>
          <a:prstGeom prst="roundRect">
            <a:avLst>
              <a:gd name="adj" fmla="val 20000"/>
            </a:avLst>
          </a:prstGeom>
          <a:solidFill>
            <a:srgbClr val="FDE2CC"/>
          </a:solidFill>
          <a:ln w="254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194560" y="4434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C2532"/>
                </a:solidFill>
                <a:latin typeface="Microsoft YaHei"/>
                <a:ea typeface="Microsoft YaHei"/>
              </a:rPr>
              <a:t>Interfaces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023360"/>
            <a:ext cx="2194560" cy="1280160"/>
          </a:xfrm>
          <a:prstGeom prst="roundRect">
            <a:avLst>
              <a:gd name="adj" fmla="val 18000"/>
            </a:avLst>
          </a:prstGeom>
          <a:solidFill>
            <a:srgbClr val="DF7E3C"/>
          </a:solidFill>
          <a:ln w="25400">
            <a:solidFill>
              <a:srgbClr val="A64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6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C2532"/>
                </a:solidFill>
                <a:latin typeface="Microsoft YaHei"/>
                <a:ea typeface="Microsoft YaHei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617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C2532"/>
                </a:solidFill>
                <a:latin typeface="Microsoft YaHei"/>
                <a:ea typeface="Microsoft YaHei"/>
              </a:rPr>
              <a:t>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114800"/>
            <a:ext cx="1554480" cy="914400"/>
          </a:xfrm>
          <a:prstGeom prst="roundRect">
            <a:avLst>
              <a:gd name="adj" fmla="val 20000"/>
            </a:avLst>
          </a:prstGeom>
          <a:solidFill>
            <a:srgbClr val="E1ECF5"/>
          </a:solidFill>
          <a:ln w="25400">
            <a:solidFill>
              <a:srgbClr val="3A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0" y="4434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C2532"/>
                </a:solidFill>
                <a:latin typeface="Microsoft YaHei"/>
                <a:ea typeface="Microsoft YaHei"/>
              </a:rPr>
              <a:t>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023360"/>
            <a:ext cx="2377440" cy="1280160"/>
          </a:xfrm>
          <a:prstGeom prst="roundRect">
            <a:avLst>
              <a:gd name="adj" fmla="val 16000"/>
            </a:avLst>
          </a:prstGeom>
          <a:solidFill>
            <a:srgbClr val="FAFBFD"/>
          </a:solidFill>
          <a:ln w="254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0" y="4206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937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Microsoft YaHei"/>
                <a:ea typeface="Microsoft YaHei"/>
              </a:rPr>
              <a:t>Files / Shell / Web / 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5532120"/>
            <a:ext cx="2194560" cy="914400"/>
          </a:xfrm>
          <a:prstGeom prst="roundRect">
            <a:avLst>
              <a:gd name="adj" fmla="val 20000"/>
            </a:avLst>
          </a:prstGeom>
          <a:solidFill>
            <a:srgbClr val="D8ECE2"/>
          </a:solidFill>
          <a:ln w="25400">
            <a:solidFill>
              <a:srgbClr val="3D8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80560" y="5623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C2532"/>
                </a:solidFill>
                <a:latin typeface="Microsoft YaHei"/>
                <a:ea typeface="Microsoft YaHei"/>
              </a:rPr>
              <a:t>State &amp;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989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C2532"/>
                </a:solidFill>
                <a:latin typeface="Microsoft YaHei"/>
                <a:ea typeface="Microsoft YaHei"/>
              </a:rPr>
              <a:t>Persistence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28800" y="4572000"/>
            <a:ext cx="365760" cy="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23360" y="4572000"/>
            <a:ext cx="457200" cy="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75120" y="4572000"/>
            <a:ext cx="457200" cy="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86800" y="4572000"/>
            <a:ext cx="457200" cy="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577840" y="3154680"/>
            <a:ext cx="0" cy="86868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75120" y="3154680"/>
            <a:ext cx="1188720" cy="96012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12080" y="5303520"/>
            <a:ext cx="0" cy="22860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943600" y="5303520"/>
            <a:ext cx="0" cy="228600"/>
          </a:xfrm>
          <a:prstGeom prst="line">
            <a:avLst/>
          </a:prstGeom>
          <a:ln w="2032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28800" y="4023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3C4757"/>
                </a:solidFill>
                <a:latin typeface="Microsoft YaHei"/>
                <a:ea typeface="Microsoft YaHei"/>
              </a:rPr>
              <a:t>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023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3C4757"/>
                </a:solidFill>
                <a:latin typeface="Microsoft YaHei"/>
                <a:ea typeface="Microsoft YaHei"/>
              </a:rPr>
              <a:t>Request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023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3C4757"/>
                </a:solidFill>
                <a:latin typeface="Microsoft YaHei"/>
                <a:ea typeface="Microsoft YaHei"/>
              </a:rPr>
              <a:t>Tool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200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3C4757"/>
                </a:solidFill>
                <a:latin typeface="Microsoft YaHei"/>
                <a:ea typeface="Microsoft YaHei"/>
              </a:rPr>
              <a:t>Propose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383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3C4757"/>
                </a:solidFill>
                <a:latin typeface="Microsoft YaHei"/>
                <a:ea typeface="Microsoft YaHei"/>
              </a:rPr>
              <a:t>Allow/Ask/Deny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349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3C4757"/>
                </a:solidFill>
                <a:latin typeface="Microsoft YaHei"/>
                <a:ea typeface="Microsoft YaHei"/>
              </a:rPr>
              <a:t>Persist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349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3C4757"/>
                </a:solidFill>
                <a:latin typeface="Microsoft YaHei"/>
                <a:ea typeface="Microsoft YaHei"/>
              </a:rPr>
              <a:t>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主结构 · 7 个组件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02 · 系统总览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C2532"/>
                </a:solidFill>
                <a:latin typeface="Microsoft YaHei"/>
                <a:ea typeface="Microsoft YaHei"/>
              </a:rPr>
              <a:t>5 层子系统分解 · 21 个子系统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C4757"/>
                </a:solidFill>
                <a:latin typeface="Microsoft YaHei"/>
                <a:ea typeface="Microsoft YaHei"/>
              </a:rPr>
              <a:t>Surface（入口/UI）· Core（智能体循环 + 压缩）· Safety/Action（权限 + 钩子 + 工具）· Backend（执行后端）；底部 State 贯穿全部层。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377440" cy="3200400"/>
          </a:xfrm>
          <a:prstGeom prst="roundRect">
            <a:avLst>
              <a:gd name="adj" fmla="val 4000"/>
            </a:avLst>
          </a:prstGeom>
          <a:solidFill>
            <a:srgbClr val="E1ECF5"/>
          </a:solidFill>
          <a:ln w="17780">
            <a:solidFill>
              <a:srgbClr val="88A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▶ Surface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8036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5D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532"/>
                </a:solidFill>
                <a:latin typeface="Microsoft YaHei"/>
                <a:ea typeface="Microsoft YaHei"/>
              </a:rPr>
              <a:t>Interactive 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447288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5D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5387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532"/>
                </a:solidFill>
                <a:latin typeface="Microsoft YaHei"/>
                <a:ea typeface="Microsoft YaHei"/>
              </a:rPr>
              <a:t>IDE/Desktop/Browser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14216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5D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1056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532"/>
                </a:solidFill>
                <a:latin typeface="Microsoft YaHei"/>
                <a:ea typeface="Microsoft YaHei"/>
              </a:rPr>
              <a:t>Headless CLI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581144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5D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46725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532"/>
                </a:solidFill>
                <a:latin typeface="Microsoft YaHei"/>
                <a:ea typeface="Microsoft YaHei"/>
              </a:rPr>
              <a:t>Agent SDK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291840"/>
            <a:ext cx="64008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345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103120" y="36576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UI 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9319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Render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37744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DDE8F3"/>
          </a:solidFill>
          <a:ln w="17780">
            <a:solidFill>
              <a:srgbClr val="7A9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06324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▶ Core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3017520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45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08960" y="3246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C2532"/>
                </a:solidFill>
                <a:latin typeface="Microsoft YaHei"/>
                <a:ea typeface="Microsoft YaHei"/>
              </a:rPr>
              <a:t>Agent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57200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45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108960" y="4663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Compaction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983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Pipeline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160" y="3840480"/>
            <a:ext cx="0" cy="731520"/>
          </a:xfrm>
          <a:prstGeom prst="line">
            <a:avLst/>
          </a:prstGeom>
          <a:ln w="1524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206240" y="3840480"/>
            <a:ext cx="0" cy="731520"/>
          </a:xfrm>
          <a:prstGeom prst="line">
            <a:avLst/>
          </a:prstGeom>
          <a:ln w="15240">
            <a:solidFill>
              <a:srgbClr val="1C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937760" y="2377440"/>
            <a:ext cx="4480560" cy="3200400"/>
          </a:xfrm>
          <a:prstGeom prst="roundRect">
            <a:avLst>
              <a:gd name="adj" fmla="val 4000"/>
            </a:avLst>
          </a:prstGeom>
          <a:solidFill>
            <a:srgbClr val="D8ECE2"/>
          </a:solidFill>
          <a:ln w="17780">
            <a:solidFill>
              <a:srgbClr val="69A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▶ Safety / Action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297180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FDE2CC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120640" y="31089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Permission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3832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3A2208"/>
                </a:solidFill>
                <a:latin typeface="Microsoft YaHei"/>
                <a:ea typeface="Microsoft YaHei"/>
              </a:rPr>
              <a:t>+ auto classifier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4160520"/>
            <a:ext cx="1737360" cy="640080"/>
          </a:xfrm>
          <a:prstGeom prst="roundRect">
            <a:avLst>
              <a:gd name="adj" fmla="val 14000"/>
            </a:avLst>
          </a:prstGeom>
          <a:solidFill>
            <a:srgbClr val="FFF1B8"/>
          </a:solidFill>
          <a:ln w="12700">
            <a:solidFill>
              <a:srgbClr val="CA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0" y="4297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A2208"/>
                </a:solidFill>
                <a:latin typeface="Microsoft YaHei"/>
                <a:ea typeface="Microsoft YaHei"/>
              </a:rPr>
              <a:t>Hook Pipeline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2880360"/>
            <a:ext cx="21945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3D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0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Extensibility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136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B7280"/>
                </a:solidFill>
                <a:latin typeface="Microsoft YaHei"/>
                <a:ea typeface="Microsoft YaHei"/>
              </a:rPr>
              <a:t>(plugins &amp; skills)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3520440"/>
            <a:ext cx="21945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3D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0" y="36393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Built-in Tools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4160520"/>
            <a:ext cx="21945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3D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0" y="4279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MCP Tools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0" y="4800600"/>
            <a:ext cx="21945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3D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32320" y="4919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Subagent spawning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2377440"/>
            <a:ext cx="2194560" cy="3200400"/>
          </a:xfrm>
          <a:prstGeom prst="roundRect">
            <a:avLst>
              <a:gd name="adj" fmla="val 4000"/>
            </a:avLst>
          </a:prstGeom>
          <a:solidFill>
            <a:srgbClr val="E2E6EB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601200" y="24688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▶ Backend Layer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2971800"/>
            <a:ext cx="192024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646920" y="309067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Execution Backends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20" y="3794760"/>
            <a:ext cx="192024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646920" y="39136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External Resources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44805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Microsoft YaHei"/>
                <a:ea typeface="Microsoft YaHei"/>
              </a:rPr>
              <a:t>local / cloud / remote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7150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FE2C5"/>
          </a:solidFill>
          <a:ln w="17780">
            <a:solidFill>
              <a:srgbClr val="A88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9436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A2208"/>
                </a:solidFill>
                <a:latin typeface="Microsoft YaHei"/>
                <a:ea typeface="Microsoft YaHei"/>
              </a:rPr>
              <a:t>▶ State Layer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6080760"/>
            <a:ext cx="2194560" cy="329184"/>
          </a:xfrm>
          <a:prstGeom prst="roundRect">
            <a:avLst>
              <a:gd name="adj" fmla="val 20000"/>
            </a:avLst>
          </a:prstGeom>
          <a:solidFill>
            <a:srgbClr val="FBF3DF"/>
          </a:solidFill>
          <a:ln w="7620">
            <a:solidFill>
              <a:srgbClr val="9C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6126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A2208"/>
                </a:solidFill>
                <a:latin typeface="Microsoft YaHei"/>
                <a:ea typeface="Microsoft YaHei"/>
              </a:rPr>
              <a:t>Context Assembly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80360" y="6080760"/>
            <a:ext cx="2194560" cy="329184"/>
          </a:xfrm>
          <a:prstGeom prst="roundRect">
            <a:avLst>
              <a:gd name="adj" fmla="val 20000"/>
            </a:avLst>
          </a:prstGeom>
          <a:solidFill>
            <a:srgbClr val="FBF3DF"/>
          </a:solidFill>
          <a:ln w="7620">
            <a:solidFill>
              <a:srgbClr val="9C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880360" y="6126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A2208"/>
                </a:solidFill>
                <a:latin typeface="Microsoft YaHei"/>
                <a:ea typeface="Microsoft YaHei"/>
              </a:rPr>
              <a:t>Runtime State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0640" y="6080760"/>
            <a:ext cx="2194560" cy="329184"/>
          </a:xfrm>
          <a:prstGeom prst="roundRect">
            <a:avLst>
              <a:gd name="adj" fmla="val 20000"/>
            </a:avLst>
          </a:prstGeom>
          <a:solidFill>
            <a:srgbClr val="FBF3DF"/>
          </a:solidFill>
          <a:ln w="7620">
            <a:solidFill>
              <a:srgbClr val="9C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120640" y="6126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A2208"/>
                </a:solidFill>
                <a:latin typeface="Microsoft YaHei"/>
                <a:ea typeface="Microsoft YaHei"/>
              </a:rPr>
              <a:t>Session Persistence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60920" y="6080760"/>
            <a:ext cx="2194560" cy="329184"/>
          </a:xfrm>
          <a:prstGeom prst="roundRect">
            <a:avLst>
              <a:gd name="adj" fmla="val 20000"/>
            </a:avLst>
          </a:prstGeom>
          <a:solidFill>
            <a:srgbClr val="FBF3DF"/>
          </a:solidFill>
          <a:ln w="7620">
            <a:solidFill>
              <a:srgbClr val="9C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360920" y="6126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A2208"/>
                </a:solidFill>
                <a:latin typeface="Microsoft YaHei"/>
                <a:ea typeface="Microsoft YaHei"/>
              </a:rPr>
              <a:t>CLAUDE.md + memory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0" y="6080760"/>
            <a:ext cx="2194560" cy="329184"/>
          </a:xfrm>
          <a:prstGeom prst="roundRect">
            <a:avLst>
              <a:gd name="adj" fmla="val 20000"/>
            </a:avLst>
          </a:prstGeom>
          <a:solidFill>
            <a:srgbClr val="FBF3DF"/>
          </a:solidFill>
          <a:ln w="7620">
            <a:solidFill>
              <a:srgbClr val="9C6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601200" y="6126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A2208"/>
                </a:solidFill>
                <a:latin typeface="Microsoft YaHei"/>
                <a:ea typeface="Microsoft YaHei"/>
              </a:rPr>
              <a:t>Sidechain Transcriptions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分层架构 · 5 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03 · 智能体循环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C2532"/>
                </a:solidFill>
                <a:latin typeface="Microsoft YaHei"/>
                <a:ea typeface="Microsoft YaHei"/>
              </a:rPr>
              <a:t>每一轮的 9 步流水线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C4757"/>
                </a:solidFill>
                <a:latin typeface="Microsoft YaHei"/>
                <a:ea typeface="Microsoft YaHei"/>
              </a:rPr>
              <a:t>queryLoop 是一个 AsyncGenerator，按下列 9 步推进。停止条件：无工具调用 · 最大轮次 · 上下文溢出 · 钩子干预 · 显式中止。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设置解析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19072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130552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状态初始化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0944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392424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上下文组装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54296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5 阶段
预模型整形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4688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916168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模型调用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178040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工具分派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39912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权限门控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701784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工具执行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52176" y="2377440"/>
            <a:ext cx="1207008" cy="1280160"/>
          </a:xfrm>
          <a:prstGeom prst="roundRect">
            <a:avLst>
              <a:gd name="adj" fmla="val 10000"/>
            </a:avLst>
          </a:prstGeom>
          <a:solidFill>
            <a:srgbClr val="FFE6C8"/>
          </a:solidFill>
          <a:ln w="12700">
            <a:solidFill>
              <a:srgbClr val="C97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0963656" y="2514600"/>
            <a:ext cx="384048" cy="384048"/>
          </a:xfrm>
          <a:prstGeom prst="ellipse">
            <a:avLst/>
          </a:prstGeom>
          <a:solidFill>
            <a:srgbClr val="C9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2176" y="2971800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A2208"/>
                </a:solidFill>
                <a:latin typeface="Microsoft YaHei"/>
                <a:ea typeface="Microsoft YaHei"/>
              </a:rPr>
              <a:t>停止条件检查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02336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418795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两条执行路径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StreamingToolExecutor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：边流入边执行（低延迟）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runTools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：分类为并发安全或互斥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02336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34840" y="418795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故障恢复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最大输出 token 升级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（≤3 次重试）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反应式压缩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（每轮一次）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流式后备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+ 后备模型切换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2336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9600" y="418795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5 个停止条件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无工具调用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/ 最大轮次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上下文溢出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/ 钩子干预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显式中止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9 步轮次管道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04 · 上下文管理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C2532"/>
                </a:solidFill>
                <a:latin typeface="Microsoft YaHei"/>
                <a:ea typeface="Microsoft YaHei"/>
              </a:rPr>
              <a:t>5 阶段预模型整形 · 渐进式惰性降级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C4757"/>
                </a:solidFill>
                <a:latin typeface="Microsoft YaHei"/>
                <a:ea typeface="Microsoft YaHei"/>
              </a:rPr>
              <a:t>每次模型调用前按顺序执行，按开销从低到高。前面阶段无法满足时才升级到下一级。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31720"/>
          <a:ext cx="11247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3566160"/>
                <a:gridCol w="1828800"/>
              </a:tblGrid>
              <a:tr h="47244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策略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触发条件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开销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47244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① 预算削减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每条消息大小上限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始终启用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D8033"/>
                          </a:solidFill>
                          <a:latin typeface="Microsoft YaHei"/>
                          <a:ea typeface="Microsoft YaHei"/>
                        </a:rPr>
                        <a:t>极低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② 裁剪 (Snip)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裁剪较旧的历史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特性开关 </a:t>
                      </a:r>
                      <a:r>
                        <a:rPr sz="110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HISTORY_SNIP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D8033"/>
                          </a:solidFill>
                          <a:latin typeface="Microsoft YaHei"/>
                          <a:ea typeface="Microsoft YaHei"/>
                        </a:rPr>
                        <a:t>低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7244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③ 微压缩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缓存感知的细粒度压缩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始终启用（基于时间）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A4400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④ 上下文折叠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读取时虚拟投影（非破坏性）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特性开关 </a:t>
                      </a:r>
                      <a:r>
                        <a:rPr sz="110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CONTEXT_COLLAPSE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C9742A"/>
                          </a:solidFill>
                          <a:latin typeface="Microsoft YaHei"/>
                          <a:ea typeface="Microsoft YaHei"/>
                        </a:rPr>
                        <a:t>较高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7244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⑤ 自动压缩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完整模型生成的摘要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其他阶段都失败时（最后手段）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C93A1C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49240"/>
            <a:ext cx="112471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73152" cy="10058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589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设计要点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从第一天就为上下文稀缺而设计。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渐进式优于一次性截断，缓存感知优于盲目摘要——每一层都尽量保留语义保真度，把破坏性最高的"自动压缩"留到最后。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上下文管理 · 5 阶段压缩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05 · 安全与权限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C2532"/>
                </a:solidFill>
                <a:latin typeface="Microsoft YaHei"/>
                <a:ea typeface="Microsoft YaHei"/>
              </a:rPr>
              <a:t>深度防御 · 7 个独立安全层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C4757"/>
                </a:solidFill>
                <a:latin typeface="Microsoft YaHei"/>
                <a:ea typeface="Microsoft YaHei"/>
              </a:rPr>
              <a:t>请求必须通过所有适用层；任一层都可拦下。"拒绝优先"在每一层都生效。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FF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2395728"/>
            <a:ext cx="384048" cy="384048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5059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工具预过滤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   </a:t>
            </a:r>
            <a:r>
              <a:rPr sz="1200" b="0" i="0">
                <a:solidFill>
                  <a:srgbClr val="3A2208"/>
                </a:solidFill>
                <a:latin typeface="Microsoft YaHei"/>
                <a:ea typeface="Microsoft YaHei"/>
              </a:rPr>
              <a:t>把全局拒绝的工具从模型可见清单中剔除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FFD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0080" y="2944368"/>
            <a:ext cx="384048" cy="384048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9923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拒绝优先规则评估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   </a:t>
            </a:r>
            <a:r>
              <a:rPr sz="1200" b="0" i="0">
                <a:solidFill>
                  <a:srgbClr val="3A2208"/>
                </a:solidFill>
                <a:latin typeface="Microsoft YaHei"/>
                <a:ea typeface="Microsoft YaHei"/>
              </a:rPr>
              <a:t>拒绝始终覆盖允许，即使允许更具体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FFC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0080" y="3493008"/>
            <a:ext cx="384048" cy="384048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4787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权限模式约束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   </a:t>
            </a:r>
            <a:r>
              <a:rPr sz="1200" b="0" i="0">
                <a:solidFill>
                  <a:srgbClr val="3A2208"/>
                </a:solidFill>
                <a:latin typeface="Microsoft YaHei"/>
                <a:ea typeface="Microsoft YaHei"/>
              </a:rPr>
              <a:t>活跃模式决定基线处理（plan / default / acceptEdits / auto / dontAsk / bypass）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FFC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9651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Auto 模式 ML 分类器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   </a:t>
            </a:r>
            <a:r>
              <a:rPr sz="1200" b="0" i="0">
                <a:solidFill>
                  <a:srgbClr val="3A2208"/>
                </a:solidFill>
                <a:latin typeface="Microsoft YaHei"/>
                <a:ea typeface="Microsoft YaHei"/>
              </a:rPr>
              <a:t>独立 LLM 调用：快速过滤 + 思维链评估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2628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FFB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0080" y="4590288"/>
            <a:ext cx="384048" cy="384048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4515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Shell 沙箱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   </a:t>
            </a:r>
            <a:r>
              <a:rPr sz="1200" b="0" i="0">
                <a:solidFill>
                  <a:srgbClr val="3A2208"/>
                </a:solidFill>
                <a:latin typeface="Microsoft YaHei"/>
                <a:ea typeface="Microsoft YaHei"/>
              </a:rPr>
              <a:t>对 shell 命令实施文件系统 + 网络隔离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7492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F6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0080" y="5138928"/>
            <a:ext cx="384048" cy="384048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9379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恢复会话权限永不自动恢复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   </a:t>
            </a:r>
            <a:r>
              <a:rPr sz="1200" b="0" i="0">
                <a:solidFill>
                  <a:srgbClr val="3A2208"/>
                </a:solidFill>
                <a:latin typeface="Microsoft YaHei"/>
                <a:ea typeface="Microsoft YaHei"/>
              </a:rPr>
              <a:t>权限绝不跨会话保留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2356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EC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40080" y="5687568"/>
            <a:ext cx="384048" cy="384048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74243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钩子拦截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    </a:t>
            </a:r>
            <a:r>
              <a:rPr sz="1200" b="0" i="0">
                <a:solidFill>
                  <a:srgbClr val="3A2208"/>
                </a:solidFill>
                <a:latin typeface="Microsoft YaHei"/>
                <a:ea typeface="Microsoft YaHei"/>
              </a:rPr>
              <a:t>PreToolUse 钩子可修改或阻止操作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七层安全防御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05 · 安全与权限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C2532"/>
                </a:solidFill>
                <a:latin typeface="Microsoft YaHei"/>
                <a:ea typeface="Microsoft YaHei"/>
              </a:rPr>
              <a:t>渐进式信任光谱 · 7 个权限模式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949440"/>
                <a:gridCol w="2103120"/>
              </a:tblGrid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模式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行为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信任级别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用户在执行前批准所有计划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7A2C08"/>
                          </a:solidFill>
                          <a:latin typeface="Microsoft YaHei"/>
                          <a:ea typeface="Microsoft YaHei"/>
                        </a:rPr>
                        <a:t>最低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default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标准交互批准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7A2C08"/>
                          </a:solidFill>
                          <a:latin typeface="Microsoft YaHei"/>
                          <a:ea typeface="Microsoft YaHei"/>
                        </a:rPr>
                        <a:t>低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acceptEdits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文件编辑 + 文件系统 shell 自动批准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5A4400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auto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ML 分类器评估工具安全性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5A4400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dontAsk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无提示，仍强制执行拒绝规则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3D8033"/>
                          </a:solidFill>
                          <a:latin typeface="Microsoft YaHei"/>
                          <a:ea typeface="Microsoft YaHei"/>
                        </a:rPr>
                        <a:t>较高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bypassPermissions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跳过大多数提示，仍保留关键检查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3D8033"/>
                          </a:solidFill>
                          <a:latin typeface="Microsoft YaHei"/>
                          <a:ea typeface="Microsoft YaHei"/>
                        </a:rPr>
                        <a:t>最高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38862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9742A"/>
                          </a:solidFill>
                          <a:latin typeface="Consolas"/>
                          <a:ea typeface="Consolas"/>
                        </a:rPr>
                        <a:t>bubble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内部：子智能体向父级上报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3C4757"/>
                          </a:solidFill>
                          <a:latin typeface="Microsoft YaHei"/>
                          <a:ea typeface="Microsoft YaHei"/>
                        </a:rPr>
                        <a:t>特殊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983480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授权管道（4 阶段）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预过滤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 → 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PreToolUse 钩子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 → 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规则评估（拒绝优先）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 → 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权限处理程序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97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00" b="1" i="0">
                <a:solidFill>
                  <a:srgbClr val="234A6F"/>
                </a:solidFill>
                <a:latin typeface="Microsoft YaHei"/>
                <a:ea typeface="Microsoft YaHei"/>
              </a:rPr>
              <a:t>协调器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952" y="5897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00" b="1" i="0">
                <a:solidFill>
                  <a:srgbClr val="234A6F"/>
                </a:solidFill>
                <a:latin typeface="Microsoft YaHei"/>
                <a:ea typeface="Microsoft YaHei"/>
              </a:rPr>
              <a:t>swarm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63824" y="5897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00" b="1" i="0">
                <a:solidFill>
                  <a:srgbClr val="234A6F"/>
                </a:solidFill>
                <a:latin typeface="Microsoft YaHei"/>
                <a:ea typeface="Microsoft YaHei"/>
              </a:rPr>
              <a:t>推测式分类器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5897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00" b="1" i="0">
                <a:solidFill>
                  <a:srgbClr val="234A6F"/>
                </a:solidFill>
                <a:latin typeface="Microsoft YaHei"/>
                <a:ea typeface="Microsoft YaHei"/>
              </a:rPr>
              <a:t>交互式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983480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4983480"/>
            <a:ext cx="73152" cy="1463040"/>
          </a:xfrm>
          <a:prstGeom prst="rect">
            <a:avLst/>
          </a:prstGeom>
          <a:solidFill>
            <a:srgbClr val="C93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12064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3A1C"/>
                </a:solidFill>
                <a:latin typeface="Microsoft YaHei"/>
                <a:ea typeface="Microsoft YaHei"/>
              </a:rPr>
              <a:t>⚠ 共享故障模式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440680"/>
            <a:ext cx="5166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子命令解析饥饿 REPL → 一旦超过 50 个子命令，整段安全分析会被跳过；扩展会在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信任对话框前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就执行（4 个 CVE 来源）。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7 个权限模式 · 渐进信任光谱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06 · 可扩展性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C2532"/>
                </a:solidFill>
                <a:latin typeface="Microsoft YaHei"/>
                <a:ea typeface="Microsoft YaHei"/>
              </a:rPr>
              <a:t>4 个扩展机制 · 上下文成本递增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7223760"/>
              </a:tblGrid>
              <a:tr h="420624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机制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上下文成本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关键能力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420624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D8033"/>
                          </a:solidFill>
                          <a:latin typeface="Microsoft YaHei"/>
                          <a:ea typeface="Microsoft YaHei"/>
                        </a:rPr>
                        <a:t>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27 个事件 · 4 种执行类型（shell / LLM / webhook / subagent 验证器）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Skills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A4400"/>
                          </a:solidFill>
                          <a:latin typeface="Microsoft YaHei"/>
                          <a:ea typeface="Microsoft YaHei"/>
                        </a:rPr>
                        <a:t>低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SKILL.md（15+ YAML frontmatter 字段）；通过 SkillTool 元工具注入当前上下文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Plugins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C9742A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10 种组件类型：命令 / 智能体 / skills / hooks / MCP / LSP / 样式…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MCP 服务器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C93A1C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外部工具 · 7 种传输类型（stdio / SSE / HTTP / WebSocket / SDK / IDE）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C2532"/>
                </a:solidFill>
                <a:latin typeface="Microsoft YaHei"/>
                <a:ea typeface="Microsoft YaHei"/>
              </a:rPr>
              <a:t>智能体循环中的 3 个注入点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348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1B8"/>
          </a:solidFill>
          <a:ln w="12700">
            <a:solidFill>
              <a:srgbClr val="CA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5A4400"/>
                </a:solidFill>
                <a:latin typeface="Microsoft YaHei"/>
                <a:ea typeface="Microsoft YaHei"/>
              </a:rPr>
              <a:t>① assemble()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1">
                <a:solidFill>
                  <a:srgbClr val="3A2208"/>
                </a:solidFill>
                <a:latin typeface="Microsoft YaHei"/>
                <a:ea typeface="Microsoft YaHei"/>
              </a:rPr>
              <a:t>模型看到什么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9496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A2208"/>
                </a:solidFill>
                <a:latin typeface="Microsoft YaHei"/>
                <a:ea typeface="Microsoft YaHei"/>
              </a:rPr>
              <a:t>CLAUDE.md、skill 描述、MCP 资源、钩子注入的上下文。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4348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1B8"/>
          </a:solidFill>
          <a:ln w="12700">
            <a:solidFill>
              <a:srgbClr val="CA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056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5A4400"/>
                </a:solidFill>
                <a:latin typeface="Microsoft YaHei"/>
                <a:ea typeface="Microsoft YaHei"/>
              </a:rPr>
              <a:t>② model()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1">
                <a:solidFill>
                  <a:srgbClr val="3A2208"/>
                </a:solidFill>
                <a:latin typeface="Microsoft YaHei"/>
                <a:ea typeface="Microsoft YaHei"/>
              </a:rPr>
              <a:t>模型能触及什么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9496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A2208"/>
                </a:solidFill>
                <a:latin typeface="Microsoft YaHei"/>
                <a:ea typeface="Microsoft YaHei"/>
              </a:rPr>
              <a:t>内置工具、MCP 工具、SkillTool、AgentTool。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4348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1B8"/>
          </a:solidFill>
          <a:ln w="12700">
            <a:solidFill>
              <a:srgbClr val="CA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2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5A4400"/>
                </a:solidFill>
                <a:latin typeface="Microsoft YaHei"/>
                <a:ea typeface="Microsoft YaHei"/>
              </a:rPr>
              <a:t>③ execute()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1">
                <a:solidFill>
                  <a:srgbClr val="3A2208"/>
                </a:solidFill>
                <a:latin typeface="Microsoft YaHei"/>
                <a:ea typeface="Microsoft YaHei"/>
              </a:rPr>
              <a:t>操作是否/如何运行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39496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A2208"/>
                </a:solidFill>
                <a:latin typeface="Microsoft YaHei"/>
                <a:ea typeface="Microsoft YaHei"/>
              </a:rPr>
              <a:t>权限规则、PreToolUse / PostToolUse / Stop 钩子。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4 个扩展机制 · 3 个注入点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07 · 上下文与记忆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C2532"/>
                </a:solidFill>
                <a:latin typeface="Microsoft YaHei"/>
                <a:ea typeface="Microsoft YaHei"/>
              </a:rPr>
              <a:t>9 个有序上下文来源 + 4 级 CLAUDE.md 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C2532"/>
                </a:solidFill>
                <a:latin typeface="Microsoft YaHei"/>
                <a:ea typeface="Microsoft YaHei"/>
              </a:rPr>
              <a:t>9 个有序来源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36829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系统提示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73405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环境信息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9981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CLAUDE.md 层级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46557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按路径限定的规则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83133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自动记忆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19709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工具元数据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56285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对话历史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92861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工具结果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294376"/>
            <a:ext cx="256032" cy="256032"/>
          </a:xfrm>
          <a:prstGeom prst="ellipse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532"/>
                </a:solidFill>
                <a:latin typeface="Microsoft YaHei"/>
                <a:ea typeface="Microsoft YaHei"/>
              </a:rPr>
              <a:t>压缩摘要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C2532"/>
                </a:solidFill>
                <a:latin typeface="Microsoft YaHei"/>
                <a:ea typeface="Microsoft YaHei"/>
              </a:rPr>
              <a:t>CLAUDE.md 层级 · 4 级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943600" y="2331720"/>
          <a:ext cx="5760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2103120"/>
              </a:tblGrid>
              <a:tr h="3840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级别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路径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范围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3840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托管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532"/>
                          </a:solidFill>
                          <a:latin typeface="Consolas"/>
                          <a:ea typeface="Consolas"/>
                        </a:rPr>
                        <a:t>/etc/claude-code/CLAUDE.md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系统范围（企业）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用户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532"/>
                          </a:solidFill>
                          <a:latin typeface="Consolas"/>
                          <a:ea typeface="Consolas"/>
                        </a:rPr>
                        <a:t>~/.claude/CLAUDE.md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用户级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3840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532"/>
                          </a:solidFill>
                          <a:latin typeface="Consolas"/>
                          <a:ea typeface="Consolas"/>
                        </a:rPr>
                        <a:t>CLAUDE.md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C2532"/>
                          </a:solidFill>
                          <a:latin typeface="Consolas"/>
                          <a:ea typeface="Consolas"/>
                        </a:rPr>
                        <a:t>.claude/rules/*.md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项目级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本地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C2532"/>
                          </a:solidFill>
                          <a:latin typeface="Consolas"/>
                          <a:ea typeface="Consolas"/>
                        </a:rPr>
                        <a:t>CLAUDE.local.md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个人 (gitignored)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943600" y="4434840"/>
            <a:ext cx="57607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0" y="4434840"/>
            <a:ext cx="73152" cy="1097280"/>
          </a:xfrm>
          <a:prstGeom prst="rect">
            <a:avLst/>
          </a:prstGeom>
          <a:solidFill>
            <a:srgbClr val="3D8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基于文件的记忆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8006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不使用嵌入向量，无向量数据库。LLM 扫描文件头，按需挑出最多 5 个相关文件。完全可查看 / 可编辑 / 可纳入版本控制。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15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73152" cy="7772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790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关键设计选择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CLAUDE.md 作为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用户上下文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传递（模型遵从是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概率性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的），而非 system prompt（确定性）。真正提供确定性强制的，是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权限规则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那一层。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上下文与记忆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08 · 子智能体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C2532"/>
                </a:solidFill>
                <a:latin typeface="Microsoft YaHei"/>
                <a:ea typeface="Microsoft YaHei"/>
              </a:rPr>
              <a:t>子智能体委托 · SkillTool vs AgentTool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5321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532120" cy="91440"/>
          </a:xfrm>
          <a:prstGeom prst="rect">
            <a:avLst/>
          </a:prstGeom>
          <a:solidFill>
            <a:srgbClr val="3D8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F5E35"/>
                </a:solidFill>
                <a:latin typeface="Microsoft YaHei"/>
                <a:ea typeface="Microsoft YaHei"/>
              </a:rPr>
              <a:t>SkillTool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166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将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指令注入当前上下文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✓ 便宜，相同窗口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✓ 适合短小、可复用的能力片段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5321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532120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3A2208"/>
                </a:solidFill>
                <a:latin typeface="Microsoft YaHei"/>
                <a:ea typeface="Microsoft YaHei"/>
              </a:rPr>
              <a:t>AgentTool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68880"/>
            <a:ext cx="5166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生成</a:t>
            </a:r>
            <a:r>
              <a:rPr sz="1300" b="1" i="0">
                <a:solidFill>
                  <a:srgbClr val="1C2532"/>
                </a:solidFill>
                <a:latin typeface="Microsoft YaHei"/>
                <a:ea typeface="Microsoft YaHei"/>
              </a:rPr>
              <a:t>新的隔离上下文窗口</a:t>
            </a: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C93A1C"/>
                </a:solidFill>
                <a:latin typeface="Microsoft YaHei"/>
                <a:ea typeface="Microsoft YaHei"/>
              </a:rPr>
              <a:t>✗ 昂贵（约 7 倍 token）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C2532"/>
                </a:solidFill>
                <a:latin typeface="Microsoft YaHei"/>
                <a:ea typeface="Microsoft YaHei"/>
              </a:rPr>
              <a:t>✓ 上下文安全，避免父级被污染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C2532"/>
                </a:solidFill>
                <a:latin typeface="Microsoft YaHei"/>
                <a:ea typeface="Microsoft YaHei"/>
              </a:rPr>
              <a:t>6 个内置类型 + 自定义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50" b="1" i="0">
                <a:solidFill>
                  <a:srgbClr val="234A6F"/>
                </a:solidFill>
                <a:latin typeface="Microsoft YaHei"/>
                <a:ea typeface="Microsoft YaHei"/>
              </a:rPr>
              <a:t>Explore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1992" y="40690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50" b="1" i="0">
                <a:solidFill>
                  <a:srgbClr val="234A6F"/>
                </a:solidFill>
                <a:latin typeface="Microsoft YaHei"/>
                <a:ea typeface="Microsoft YaHei"/>
              </a:rPr>
              <a:t>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86784" y="40690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50" b="1" i="0">
                <a:solidFill>
                  <a:srgbClr val="234A6F"/>
                </a:solidFill>
                <a:latin typeface="Microsoft YaHei"/>
                <a:ea typeface="Microsoft YaHei"/>
              </a:rPr>
              <a:t>General-purpose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1576" y="40690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50" b="1" i="0">
                <a:solidFill>
                  <a:srgbClr val="234A6F"/>
                </a:solidFill>
                <a:latin typeface="Microsoft YaHei"/>
                <a:ea typeface="Microsoft YaHei"/>
              </a:rPr>
              <a:t>Claude Code Guide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40690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50" b="1" i="0">
                <a:solidFill>
                  <a:srgbClr val="234A6F"/>
                </a:solidFill>
                <a:latin typeface="Microsoft YaHei"/>
                <a:ea typeface="Microsoft YaHei"/>
              </a:rPr>
              <a:t>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40690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1050" b="1" i="0">
                <a:solidFill>
                  <a:srgbClr val="234A6F"/>
                </a:solidFill>
                <a:latin typeface="Microsoft YaHei"/>
                <a:ea typeface="Microsoft YaHei"/>
              </a:rPr>
              <a:t>Statusline-setup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sz="1200" b="0" i="0">
                <a:solidFill>
                  <a:srgbClr val="C9742A"/>
                </a:solidFill>
                <a:latin typeface="Consolas"/>
                <a:ea typeface="Consolas"/>
              </a:rPr>
              <a:t>.claude/agents/*.md</a:t>
            </a: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</a:rPr>
              <a:t> 自定义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隔离模式（in-process 默认）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Worktree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：Git worktree 文件系统隔离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Remote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：远程执行（内部专用）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In-process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：共享 FS，隔离对话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493776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3484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侧链转录稿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394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每个子智能体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写自己的 .jsonl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只把摘要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回传父级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POSIX flock()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 协调，零外部依赖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93776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权限覆盖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子智能体 permissionMode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 生效；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除非父级处于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 bypass / acceptEdits / auto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DF7E3C"/>
                </a:solidFill>
                <a:latin typeface="Microsoft YaHei"/>
                <a:ea typeface="Microsoft YaHei"/>
              </a:rPr>
              <a:t>• </a:t>
            </a:r>
            <a:r>
              <a:rPr sz="1100" b="1" i="0">
                <a:solidFill>
                  <a:srgbClr val="1C2532"/>
                </a:solidFill>
                <a:latin typeface="Microsoft YaHei"/>
                <a:ea typeface="Microsoft YaHei"/>
              </a:rPr>
              <a:t>显式用户决策</a:t>
            </a:r>
            <a:r>
              <a:rPr sz="1100" b="0" i="0">
                <a:solidFill>
                  <a:srgbClr val="1C2532"/>
                </a:solidFill>
                <a:latin typeface="Microsoft YaHei"/>
                <a:ea typeface="Microsoft YaHei"/>
              </a:rPr>
              <a:t>始终优先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子智能体委托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09 · 持久化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C2532"/>
                </a:solidFill>
                <a:latin typeface="Microsoft YaHei"/>
                <a:ea typeface="Microsoft YaHei"/>
              </a:rPr>
              <a:t>会话持久化 · 三个通道、仅追加 JSONL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5486400"/>
              </a:tblGrid>
              <a:tr h="42291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通道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格式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目的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42291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会话转录稿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仅追加 JSONL · 链式修补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完整对话；压缩边界记录 headUuid / anchorUuid / tailUuid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全局提示历史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2532"/>
                          </a:solidFill>
                          <a:latin typeface="Consolas"/>
                          <a:ea typeface="Consolas"/>
                        </a:rPr>
                        <a:t>history.jsonl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跨会话提示召回（反向读取，用于上箭头）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2291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子智能体侧链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每个子智能体独立 JSONL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隔离子智能体历史；只摘要返回父级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70332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3703320"/>
            <a:ext cx="73152" cy="1234440"/>
          </a:xfrm>
          <a:prstGeom prst="rect">
            <a:avLst/>
          </a:prstGeom>
          <a:solidFill>
            <a:srgbClr val="C93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3A1C"/>
                </a:solidFill>
                <a:latin typeface="Microsoft YaHei"/>
                <a:ea typeface="Microsoft YaHei"/>
              </a:rPr>
              <a:t>恢复时权限永不自动恢复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信任总是在当前会话中重新建立。为守住这一安全不变量，系统宁可让用户多经历一次授权。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72200" y="3703320"/>
            <a:ext cx="73152" cy="1234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84048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设计权衡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160520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仅追加 JSONL 体现一次取舍：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可审计性 + 简单性 &gt; 查询能力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。每条事件可读、可版本控制，无需专用工具即可重建。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7492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链式修补 + 文件历史检查点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会话加载器</a:t>
            </a:r>
            <a:r>
              <a:rPr sz="1200" b="1" i="0">
                <a:solidFill>
                  <a:srgbClr val="1C2532"/>
                </a:solidFill>
                <a:latin typeface="Microsoft YaHei"/>
                <a:ea typeface="Microsoft YaHei"/>
              </a:rPr>
              <a:t>读取时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修补消息链；磁盘上的数据不会被就地改写。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C9742A"/>
                </a:solidFill>
                <a:latin typeface="Consolas"/>
                <a:ea typeface="Consolas"/>
              </a:rPr>
              <a:t>--rewind-files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 文件检查点存于 </a:t>
            </a:r>
            <a:r>
              <a:rPr sz="1200" b="0" i="0">
                <a:solidFill>
                  <a:srgbClr val="C9742A"/>
                </a:solidFill>
                <a:latin typeface="Consolas"/>
                <a:ea typeface="Consolas"/>
              </a:rPr>
              <a:t>~/.claude/file-history/&lt;sessionId&gt;/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会话持久化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742A"/>
                </a:solidFill>
                <a:latin typeface="Microsoft YaHei"/>
                <a:ea typeface="Microsoft YaHei"/>
              </a:rPr>
              <a:t>CHAPTER 10 ·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C2532"/>
                </a:solidFill>
                <a:latin typeface="Microsoft YaHei"/>
                <a:ea typeface="Microsoft YaHei"/>
              </a:rPr>
              <a:t>5 个价值观 → 13 条原则 → 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C4757"/>
                </a:solidFill>
                <a:latin typeface="Microsoft YaHei"/>
                <a:ea typeface="Microsoft YaHei"/>
              </a:rPr>
              <a:t>架构里的每一条决策都能追溯到这 5 个人类价值观。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31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45720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价值观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A2208"/>
                          </a:solidFill>
                          <a:latin typeface="Microsoft YaHei"/>
                          <a:ea typeface="Microsoft YaHei"/>
                        </a:rPr>
                        <a:t>核心思想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45720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人类决策权威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人类通过主体层级保持控制；93% 提示批准率暴露批准疲劳后，应对是</a:t>
                      </a:r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重新划分边界</a:t>
                      </a:r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而非追加更多警告。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安全 / 安保 / 隐私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即使在人类警惕性下降时也能守住底线。</a:t>
                      </a:r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7 个独立安全层。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5720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可靠执行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按用户本意执行；</a:t>
                      </a:r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收集—行动—验证</a:t>
                      </a:r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闭环；优雅恢复。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能力放大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"一个 Unix 工具，而不是产品。" 98.4% 是让模型能工作的</a:t>
                      </a:r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确定性基础设施</a:t>
                      </a:r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。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57200"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上下文适应性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36000" b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CLAUDE.md 层级、渐进式可扩展性，以及随时间演变的</a:t>
                      </a:r>
                      <a:r>
                        <a:rPr sz="1200" b="1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信任轨迹</a:t>
                      </a:r>
                      <a:r>
                        <a:rPr sz="1200" b="0" i="0">
                          <a:solidFill>
                            <a:srgbClr val="1C2532"/>
                          </a:solidFill>
                          <a:latin typeface="Microsoft YaHei"/>
                          <a:ea typeface="Microsoft YaHei"/>
                        </a:rPr>
                        <a:t>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257800"/>
            <a:ext cx="112471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5257800"/>
            <a:ext cx="73152" cy="1188720"/>
          </a:xfrm>
          <a:prstGeom prst="rect">
            <a:avLst/>
          </a:prstGeom>
          <a:solidFill>
            <a:srgbClr val="3D8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Microsoft YaHei"/>
                <a:ea typeface="Microsoft YaHei"/>
              </a:rPr>
              <a:t>第六个评估视角 · 长期能力保持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论文援引证据：在 AI 辅助条件下工作的开发者，在</a:t>
            </a:r>
            <a:r>
              <a:rPr sz="1200" b="1" i="0">
                <a:solidFill>
                  <a:srgbClr val="C93A1C"/>
                </a:solidFill>
                <a:latin typeface="Microsoft YaHei"/>
                <a:ea typeface="Microsoft YaHei"/>
              </a:rPr>
              <a:t>理解力测试中得分低 17%</a:t>
            </a:r>
            <a:r>
              <a:rPr sz="1200" b="0" i="0">
                <a:solidFill>
                  <a:srgbClr val="1C2532"/>
                </a:solidFill>
                <a:latin typeface="Microsoft YaHei"/>
                <a:ea typeface="Microsoft YaHei"/>
              </a:rPr>
              <a:t>。架构既要放大短期能力，也不能侵蚀长期能力。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</a:rPr>
              <a:t>价值观与设计原则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F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9A8"/>
                </a:solidFill>
                <a:latin typeface="Microsoft YaHei"/>
                <a:ea typeface="Microsoft YaHe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</a:rPr>
              <a:t>把投入放到 harness 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D8DDE7"/>
                </a:solidFill>
                <a:latin typeface="Microsoft YaHei"/>
                <a:ea typeface="Microsoft YaHei"/>
              </a:rPr>
              <a:t>Claude Code 的核心洞察是：随着模型能力趋同，</a:t>
            </a:r>
            <a:r>
              <a:rPr sz="1500" b="1" i="0">
                <a:solidFill>
                  <a:srgbClr val="FFD9A8"/>
                </a:solidFill>
                <a:latin typeface="Microsoft YaHei"/>
                <a:ea typeface="Microsoft YaHei"/>
              </a:rPr>
              <a:t>harness 才是差异化的关键</a:t>
            </a:r>
            <a:r>
              <a:rPr sz="1500" b="0" i="0">
                <a:solidFill>
                  <a:srgbClr val="D8DDE7"/>
                </a:solidFill>
                <a:latin typeface="Microsoft YaHei"/>
                <a:ea typeface="Microsoft YaHei"/>
              </a:rPr>
              <a:t>——钩子、分类器、压缩、隔离都不容易复制。</a:t>
            </a:r>
          </a:p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D8DDE7"/>
                </a:solidFill>
                <a:latin typeface="Microsoft YaHei"/>
                <a:ea typeface="Microsoft YaHei"/>
              </a:rPr>
              <a:t>一个生产级编码智能体的工程性挑战，</a:t>
            </a:r>
            <a:r>
              <a:rPr sz="1500" b="1" i="0">
                <a:solidFill>
                  <a:srgbClr val="FFD9A8"/>
                </a:solidFill>
                <a:latin typeface="Microsoft YaHei"/>
                <a:ea typeface="Microsoft YaHei"/>
              </a:rPr>
              <a:t>98.4% 在循环之外</a:t>
            </a:r>
            <a:r>
              <a:rPr sz="1500" b="0" i="0">
                <a:solidFill>
                  <a:srgbClr val="D8DDE7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4480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9A8"/>
                </a:solidFill>
                <a:latin typeface="Microsoft YaHei"/>
                <a:ea typeface="Microsoft YaHe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E5E8EF"/>
                </a:solidFill>
                <a:latin typeface="Microsoft YaHei"/>
                <a:ea typeface="Microsoft YaHei"/>
              </a:rPr>
              <a:t>为上下文稀缺、深度防御、可逆性加权风险而设计。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29768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80560" y="4480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9A8"/>
                </a:solidFill>
                <a:latin typeface="Microsoft YaHei"/>
                <a:ea typeface="Microsoft YaHe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8463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E5E8EF"/>
                </a:solidFill>
                <a:latin typeface="Microsoft YaHei"/>
                <a:ea typeface="Microsoft YaHei"/>
              </a:rPr>
              <a:t>深度防御 + 拒绝优先；恢复会话时权限永不自动恢复。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29768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2C374E"/>
          </a:solidFill>
          <a:ln w="9525">
            <a:solidFill>
              <a:srgbClr val="4A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4480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9A8"/>
                </a:solidFill>
                <a:latin typeface="Microsoft YaHei"/>
                <a:ea typeface="Microsoft YaHei"/>
              </a:rPr>
              <a:t>EXTENSIBILITY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8463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E5E8EF"/>
                </a:solidFill>
                <a:latin typeface="Microsoft YaHei"/>
                <a:ea typeface="Microsoft YaHei"/>
              </a:rPr>
              <a:t>按上下文成本分层的扩展：Hooks / Skills / Plugins / MCP。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A8B0BD"/>
                </a:solidFill>
                <a:latin typeface="Microsoft YaHei"/>
                <a:ea typeface="Microsoft YaHei"/>
              </a:rPr>
              <a:t>Source: Dive into Claude Code: The Design Space of Today's AI Agent System  ·  v2.1.88  ·  CC BY-NC-SA 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8DDE7"/>
                </a:solidFill>
                <a:latin typeface="Microsoft YaHei"/>
                <a:ea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